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5595C-DBC7-4939-8874-2D3880A78CFE}" v="2" dt="2026-06-14T21:41:24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92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еоргий Созаноы" userId="e8467f6472821582" providerId="LiveId" clId="{7B0AD54D-1FFB-42F7-85DA-B0360649AED6}"/>
    <pc:docChg chg="undo redo custSel modSld">
      <pc:chgData name="Георгий Созаноы" userId="e8467f6472821582" providerId="LiveId" clId="{7B0AD54D-1FFB-42F7-85DA-B0360649AED6}" dt="2026-06-14T21:44:03.864" v="59" actId="1076"/>
      <pc:docMkLst>
        <pc:docMk/>
      </pc:docMkLst>
      <pc:sldChg chg="modSp mod">
        <pc:chgData name="Георгий Созаноы" userId="e8467f6472821582" providerId="LiveId" clId="{7B0AD54D-1FFB-42F7-85DA-B0360649AED6}" dt="2026-06-14T21:25:39.360" v="3" actId="1076"/>
        <pc:sldMkLst>
          <pc:docMk/>
          <pc:sldMk cId="0" sldId="256"/>
        </pc:sldMkLst>
        <pc:spChg chg="mod">
          <ac:chgData name="Георгий Созаноы" userId="e8467f6472821582" providerId="LiveId" clId="{7B0AD54D-1FFB-42F7-85DA-B0360649AED6}" dt="2026-06-14T21:25:39.360" v="3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Георгий Созаноы" userId="e8467f6472821582" providerId="LiveId" clId="{7B0AD54D-1FFB-42F7-85DA-B0360649AED6}" dt="2026-06-14T21:23:30.905" v="2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Георгий Созаноы" userId="e8467f6472821582" providerId="LiveId" clId="{7B0AD54D-1FFB-42F7-85DA-B0360649AED6}" dt="2026-06-14T21:44:03.864" v="59" actId="1076"/>
        <pc:sldMkLst>
          <pc:docMk/>
          <pc:sldMk cId="0" sldId="263"/>
        </pc:sldMkLst>
        <pc:spChg chg="mod">
          <ac:chgData name="Георгий Созаноы" userId="e8467f6472821582" providerId="LiveId" clId="{7B0AD54D-1FFB-42F7-85DA-B0360649AED6}" dt="2026-06-14T21:44:03.864" v="59" actId="107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Георгий Созаноы" userId="e8467f6472821582" providerId="LiveId" clId="{7B0AD54D-1FFB-42F7-85DA-B0360649AED6}" dt="2026-06-14T21:36:02.065" v="4" actId="1076"/>
        <pc:sldMkLst>
          <pc:docMk/>
          <pc:sldMk cId="0" sldId="265"/>
        </pc:sldMkLst>
        <pc:spChg chg="mod">
          <ac:chgData name="Георгий Созаноы" userId="e8467f6472821582" providerId="LiveId" clId="{7B0AD54D-1FFB-42F7-85DA-B0360649AED6}" dt="2026-06-14T21:36:02.065" v="4" actId="1076"/>
          <ac:spMkLst>
            <pc:docMk/>
            <pc:sldMk cId="0" sldId="265"/>
            <ac:spMk id="34" creationId="{00000000-0000-0000-0000-000000000000}"/>
          </ac:spMkLst>
        </pc:spChg>
      </pc:sldChg>
      <pc:sldChg chg="addSp delSp modSp mod">
        <pc:chgData name="Георгий Созаноы" userId="e8467f6472821582" providerId="LiveId" clId="{7B0AD54D-1FFB-42F7-85DA-B0360649AED6}" dt="2026-06-14T21:42:11.029" v="57" actId="1076"/>
        <pc:sldMkLst>
          <pc:docMk/>
          <pc:sldMk cId="0" sldId="266"/>
        </pc:sldMkLst>
        <pc:spChg chg="mod">
          <ac:chgData name="Георгий Созаноы" userId="e8467f6472821582" providerId="LiveId" clId="{7B0AD54D-1FFB-42F7-85DA-B0360649AED6}" dt="2026-06-14T21:41:28.532" v="47" actId="107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40:05.818" v="30" actId="478"/>
          <ac:spMkLst>
            <pc:docMk/>
            <pc:sldMk cId="0" sldId="266"/>
            <ac:spMk id="5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41:22.428" v="44" actId="478"/>
          <ac:spMkLst>
            <pc:docMk/>
            <pc:sldMk cId="0" sldId="266"/>
            <ac:spMk id="6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39:34.062" v="20"/>
          <ac:spMkLst>
            <pc:docMk/>
            <pc:sldMk cId="0" sldId="266"/>
            <ac:spMk id="7" creationId="{00000000-0000-0000-0000-000000000000}"/>
          </ac:spMkLst>
        </pc:spChg>
        <pc:spChg chg="del">
          <ac:chgData name="Георгий Созаноы" userId="e8467f6472821582" providerId="LiveId" clId="{7B0AD54D-1FFB-42F7-85DA-B0360649AED6}" dt="2026-06-14T21:39:34.060" v="14" actId="478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39:34.062" v="22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39:34.061" v="18"/>
          <ac:spMkLst>
            <pc:docMk/>
            <pc:sldMk cId="0" sldId="266"/>
            <ac:spMk id="11" creationId="{00000000-0000-0000-0000-000000000000}"/>
          </ac:spMkLst>
        </pc:spChg>
        <pc:spChg chg="del mod">
          <ac:chgData name="Георгий Созаноы" userId="e8467f6472821582" providerId="LiveId" clId="{7B0AD54D-1FFB-42F7-85DA-B0360649AED6}" dt="2026-06-14T21:39:34.061" v="1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Георгий Созаноы" userId="e8467f6472821582" providerId="LiveId" clId="{7B0AD54D-1FFB-42F7-85DA-B0360649AED6}" dt="2026-06-14T21:41:07.107" v="41" actId="2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Георгий Созаноы" userId="e8467f6472821582" providerId="LiveId" clId="{7B0AD54D-1FFB-42F7-85DA-B0360649AED6}" dt="2026-06-14T21:42:07.014" v="53" actId="1076"/>
          <ac:spMkLst>
            <pc:docMk/>
            <pc:sldMk cId="0" sldId="266"/>
            <ac:spMk id="14" creationId="{00000000-0000-0000-0000-000000000000}"/>
          </ac:spMkLst>
        </pc:spChg>
        <pc:spChg chg="add mod">
          <ac:chgData name="Георгий Созаноы" userId="e8467f6472821582" providerId="LiveId" clId="{7B0AD54D-1FFB-42F7-85DA-B0360649AED6}" dt="2026-06-14T21:42:11.029" v="57" actId="1076"/>
          <ac:spMkLst>
            <pc:docMk/>
            <pc:sldMk cId="0" sldId="266"/>
            <ac:spMk id="15" creationId="{4402824E-F4DB-19A1-8E37-28356E7073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920240"/>
            <a:ext cx="12188952" cy="64008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994030"/>
            <a:ext cx="12188952" cy="461772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C8FF"/>
                </a:solidFill>
              </a:rPr>
              <a:t>ФГБОУ ВО «Северо-Кавказский горно-металлургический институт (ГТУ)»
Многопрофильный профессиональный колледж СКГМИ (ГТУ)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</a:rPr>
              <a:t>Разработка автоматизированной информационной системы
учета товаров в магазине одежды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5564" y="2103120"/>
            <a:ext cx="877824" cy="87782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5564" y="2121408"/>
            <a:ext cx="8778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54680"/>
            <a:ext cx="5943600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700" b="1" dirty="0" err="1">
                <a:solidFill>
                  <a:srgbClr val="3B82F6"/>
                </a:solidFill>
              </a:rPr>
              <a:t>Руководитель</a:t>
            </a:r>
            <a:r>
              <a:rPr sz="1700" b="1" dirty="0">
                <a:solidFill>
                  <a:srgbClr val="3B82F6"/>
                </a:solidFill>
              </a:rPr>
              <a:t>:  </a:t>
            </a:r>
            <a:r>
              <a:rPr sz="1700" b="1" dirty="0" err="1">
                <a:solidFill>
                  <a:srgbClr val="1E293B"/>
                </a:solidFill>
              </a:rPr>
              <a:t>Цогоева</a:t>
            </a:r>
            <a:r>
              <a:rPr sz="1700" b="1" dirty="0">
                <a:solidFill>
                  <a:srgbClr val="1E293B"/>
                </a:solidFill>
              </a:rPr>
              <a:t> </a:t>
            </a:r>
            <a:r>
              <a:rPr lang="ru-RU" b="1" dirty="0">
                <a:ea typeface="Times New Roman" panose="02020603050405020304" pitchFamily="18" charset="0"/>
              </a:rPr>
              <a:t>Зарина Олеговна</a:t>
            </a:r>
            <a:endParaRPr sz="1700" b="1" dirty="0">
              <a:solidFill>
                <a:srgbClr val="1E293B"/>
              </a:solidFill>
            </a:endParaRPr>
          </a:p>
          <a:p>
            <a:pPr algn="ctr">
              <a:spcBef>
                <a:spcPts val="800"/>
              </a:spcBef>
            </a:pPr>
            <a:r>
              <a:rPr sz="1700" b="1" dirty="0" err="1">
                <a:solidFill>
                  <a:srgbClr val="3B82F6"/>
                </a:solidFill>
              </a:rPr>
              <a:t>Студент</a:t>
            </a:r>
            <a:r>
              <a:rPr sz="1700" b="1" dirty="0">
                <a:solidFill>
                  <a:srgbClr val="3B82F6"/>
                </a:solidFill>
              </a:rPr>
              <a:t>:  </a:t>
            </a:r>
            <a:r>
              <a:rPr sz="1700" b="1" dirty="0" err="1">
                <a:solidFill>
                  <a:srgbClr val="1E293B"/>
                </a:solidFill>
              </a:rPr>
              <a:t>Созанов</a:t>
            </a:r>
            <a:r>
              <a:rPr sz="1700" b="1" dirty="0">
                <a:solidFill>
                  <a:srgbClr val="1E293B"/>
                </a:solidFill>
              </a:rPr>
              <a:t> Георгий </a:t>
            </a:r>
            <a:r>
              <a:rPr sz="1700" b="1" dirty="0" err="1">
                <a:solidFill>
                  <a:srgbClr val="1E293B"/>
                </a:solidFill>
              </a:rPr>
              <a:t>Валерьевич</a:t>
            </a:r>
            <a:endParaRPr sz="1700" b="1" dirty="0">
              <a:solidFill>
                <a:srgbClr val="1E293B"/>
              </a:solidFill>
            </a:endParaRPr>
          </a:p>
          <a:p>
            <a:pPr algn="ctr">
              <a:spcBef>
                <a:spcPts val="800"/>
              </a:spcBef>
            </a:pPr>
            <a:r>
              <a:rPr sz="1700" b="1" dirty="0" err="1">
                <a:solidFill>
                  <a:srgbClr val="3B82F6"/>
                </a:solidFill>
              </a:rPr>
              <a:t>Группа</a:t>
            </a:r>
            <a:r>
              <a:rPr sz="1700" b="1" dirty="0">
                <a:solidFill>
                  <a:srgbClr val="3B82F6"/>
                </a:solidFill>
              </a:rPr>
              <a:t>:  </a:t>
            </a:r>
            <a:r>
              <a:rPr sz="1700" b="1" dirty="0">
                <a:solidFill>
                  <a:srgbClr val="1E293B"/>
                </a:solidFill>
              </a:rPr>
              <a:t>ИС-22-2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291072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Владикавказ,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Актуальность и цель работы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76072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Проблема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830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 b="1">
                <a:solidFill>
                  <a:srgbClr val="3B82F6"/>
                </a:solidFill>
              </a:rPr>
              <a:t>▸  </a:t>
            </a:r>
            <a:r>
              <a:rPr sz="1600">
                <a:solidFill>
                  <a:srgbClr val="1E293B"/>
                </a:solidFill>
              </a:rPr>
              <a:t>Ручной учёт товаров: ошибки, пересортица, финансовые потери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B82F6"/>
                </a:solidFill>
              </a:rPr>
              <a:t>▸  </a:t>
            </a:r>
            <a:r>
              <a:rPr sz="1600">
                <a:solidFill>
                  <a:srgbClr val="1E293B"/>
                </a:solidFill>
              </a:rPr>
              <a:t>Нет контроля складских остатков в реальном времени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B82F6"/>
                </a:solidFill>
              </a:rPr>
              <a:t>▸  </a:t>
            </a:r>
            <a:r>
              <a:rPr sz="1600">
                <a:solidFill>
                  <a:srgbClr val="1E293B"/>
                </a:solidFill>
              </a:rPr>
              <a:t>Отсутствие инструментов анализа продаж и отчётности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B82F6"/>
                </a:solidFill>
              </a:rPr>
              <a:t>▸  </a:t>
            </a:r>
            <a:r>
              <a:rPr sz="1600">
                <a:solidFill>
                  <a:srgbClr val="1E293B"/>
                </a:solidFill>
              </a:rPr>
              <a:t>Нет онлайн-канала продаж для привлечения клиентов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36576" cy="46634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577840" cy="402336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371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Цель работы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Разработать АИС для автоматизации учёта товаров и управления бизнес-процессами магазина одежды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108960"/>
            <a:ext cx="5577840" cy="40233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Объект и предмет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6616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165AB5"/>
                </a:solidFill>
              </a:rPr>
              <a:t>Объект:  </a:t>
            </a:r>
            <a:r>
              <a:rPr sz="1500">
                <a:solidFill>
                  <a:srgbClr val="1E293B"/>
                </a:solidFill>
              </a:rPr>
              <a:t>процессы учёта и управления в магазине одежды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65AB5"/>
                </a:solidFill>
              </a:rPr>
              <a:t>Предмет:  </a:t>
            </a:r>
            <a:r>
              <a:rPr sz="1500">
                <a:solidFill>
                  <a:srgbClr val="1E293B"/>
                </a:solidFill>
              </a:rPr>
              <a:t>программные средства автоматизации учёта товаров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Задачи работы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72184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Анализ предметной области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Изучить бизнес-процессы магазина одежды, определить требования к системе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417320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08776" y="1417320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15544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1472184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Проектирование БД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Разработать схему данных: 15+ моделей с каскадными связями (Prisma ORM)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35000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67712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Модуль управления складом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Реализовать полный CRUD товаров, вариаций, категорий и брендов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212848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08776" y="2212848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4496" y="235000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267712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POS-касса и продажи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Оформление розничных продаж, скидки, чек со штрихкодом, Z-отчёт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08376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008376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14553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063240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CRM и программа лояльности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Клиентская база, история покупок, начисление и списание баллов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3008376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08776" y="3008376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54496" y="314553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3063240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Финансы и аналитика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P&amp;L отчёт, расходы, топ товаров, экспорт в Excel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03904"/>
            <a:ext cx="5705856" cy="685800"/>
          </a:xfrm>
          <a:prstGeom prst="rect">
            <a:avLst/>
          </a:prstGeom>
          <a:solidFill>
            <a:srgbClr val="EB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3803904"/>
            <a:ext cx="347472" cy="68580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94106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858768"/>
            <a:ext cx="5230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2B55"/>
                </a:solidFill>
              </a:rPr>
              <a:t>Онлайн-витрина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47556B"/>
                </a:solidFill>
              </a:rPr>
              <a:t>Публичный каталог, корзина, оформление заказа, личный кабинет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Архитектура системы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463040"/>
            <a:ext cx="3291840" cy="3383280"/>
          </a:xfrm>
          <a:prstGeom prst="rect">
            <a:avLst/>
          </a:prstGeom>
          <a:solidFill>
            <a:srgbClr val="EBF2FF"/>
          </a:solidFill>
          <a:ln>
            <a:solidFill>
              <a:srgbClr val="16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" y="1463040"/>
            <a:ext cx="3291840" cy="49377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Фронтенд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05740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React 19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TypeScript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Tailwind CSS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Framer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898648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463040"/>
            <a:ext cx="3291840" cy="3383280"/>
          </a:xfrm>
          <a:prstGeom prst="rect">
            <a:avLst/>
          </a:prstGeom>
          <a:solidFill>
            <a:srgbClr val="EBF2FF"/>
          </a:solidFill>
          <a:ln>
            <a:solidFill>
              <a:srgbClr val="16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86200" y="1463040"/>
            <a:ext cx="3291840" cy="49377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52704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Бэкенд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05740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Node.js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Express.js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REST API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JWT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7184" y="2898648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4928" y="1463040"/>
            <a:ext cx="3291840" cy="3383280"/>
          </a:xfrm>
          <a:prstGeom prst="rect">
            <a:avLst/>
          </a:prstGeom>
          <a:solidFill>
            <a:srgbClr val="EBF2FF"/>
          </a:solidFill>
          <a:ln>
            <a:solidFill>
              <a:srgbClr val="16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24928" y="1463040"/>
            <a:ext cx="3291840" cy="493776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24928" y="152704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База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05740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SQLite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Prisma ORM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15+ моделей</a:t>
            </a:r>
          </a:p>
          <a:p>
            <a:pPr algn="ctr">
              <a:spcBef>
                <a:spcPts val="1400"/>
              </a:spcBef>
            </a:pPr>
            <a:r>
              <a:rPr sz="1600">
                <a:solidFill>
                  <a:srgbClr val="1E293B"/>
                </a:solidFill>
              </a:rPr>
              <a:t>PM2 деплой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5029200"/>
            <a:ext cx="1154887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5038344"/>
            <a:ext cx="11548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 err="1">
                <a:solidFill>
                  <a:srgbClr val="FFFFFF"/>
                </a:solidFill>
              </a:rPr>
              <a:t>Роли</a:t>
            </a:r>
            <a:r>
              <a:rPr sz="1700" b="1" i="0" dirty="0">
                <a:solidFill>
                  <a:srgbClr val="FFFFFF"/>
                </a:solidFill>
              </a:rPr>
              <a:t> </a:t>
            </a:r>
            <a:r>
              <a:rPr sz="1700" b="1" i="0" dirty="0" err="1">
                <a:solidFill>
                  <a:srgbClr val="FFFFFF"/>
                </a:solidFill>
              </a:rPr>
              <a:t>пользователей</a:t>
            </a:r>
            <a:r>
              <a:rPr sz="1700" b="1" i="0">
                <a:solidFill>
                  <a:srgbClr val="FFFFFF"/>
                </a:solidFill>
              </a:rPr>
              <a:t>:    ADMIN   /   SELLER   /   STOREKEEPER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Функциональные модули системы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560320" cy="52120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80360" y="1371600"/>
            <a:ext cx="9006840" cy="521207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463040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Функциональность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7"/>
            <a:ext cx="256032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1892807"/>
            <a:ext cx="900684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1984247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Склад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984247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Учёт товаров, вариации (размер/цвет/цена), категории, бренды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14014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80360" y="2414014"/>
            <a:ext cx="9006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4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POS-касса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505454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Оформление продаж, скидки, чек со штрихкодом, Z-отчёт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35221"/>
            <a:ext cx="256032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80360" y="2935221"/>
            <a:ext cx="900684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026661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Заказы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026661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Онлайн-заказы, управление статусами, обработка возвратов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456428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880360" y="3456428"/>
            <a:ext cx="9006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547868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547868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База клиентов, программа лояльности, история покупок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5"/>
            <a:ext cx="256032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880360" y="3977635"/>
            <a:ext cx="900684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069075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Финансы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069075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Доходы/расходы, P&amp;L с фильтром по периоду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498842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80360" y="4498842"/>
            <a:ext cx="9006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4590282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Аналитика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590282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Топ товаров, low-stock, журнал операций, экспорт Excel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20049"/>
            <a:ext cx="256032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880360" y="5020049"/>
            <a:ext cx="9006840" cy="521207"/>
          </a:xfrm>
          <a:prstGeom prst="rect">
            <a:avLst/>
          </a:prstGeom>
          <a:solidFill>
            <a:srgbClr val="EBF2FF"/>
          </a:solidFill>
          <a:ln>
            <a:solidFill>
              <a:srgbClr val="B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5111489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5AB5"/>
                </a:solidFill>
              </a:rPr>
              <a:t>Витрина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5111489"/>
            <a:ext cx="9006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Публичный каталог, корзина, оформление заказа онлайн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Демонстрация: Dashboard и POS-касса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5669280" cy="2377440"/>
          </a:xfrm>
          <a:prstGeom prst="rect">
            <a:avLst/>
          </a:prstGeom>
        </p:spPr>
      </p:pic>
      <p:pic>
        <p:nvPicPr>
          <p:cNvPr id="10" name="Picture 9" descr="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31920"/>
            <a:ext cx="566928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37856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38130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— сводная панель системы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63002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63276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POS-касса — оформление розничной продажи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417320"/>
            <a:ext cx="597103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Dashboard:  </a:t>
            </a:r>
            <a:r>
              <a:rPr sz="1300">
                <a:solidFill>
                  <a:srgbClr val="1E293B"/>
                </a:solidFill>
              </a:rPr>
              <a:t>Выручка, остатки, ожидающие заказы, журнал операций в реальном времени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POS-касса:  </a:t>
            </a:r>
            <a:r>
              <a:rPr sz="1300">
                <a:solidFill>
                  <a:srgbClr val="1E293B"/>
                </a:solidFill>
              </a:rPr>
              <a:t>Поиск товара по артикулу, фильтр по категориям, поле скидки, ограничение по остатку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Чек:  </a:t>
            </a:r>
            <a:r>
              <a:rPr sz="1300">
                <a:solidFill>
                  <a:srgbClr val="1E293B"/>
                </a:solidFill>
              </a:rPr>
              <a:t>Автоматическая печать чека со штрихкодом через react-barcode, реквизиты магазина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CommandPalette:  </a:t>
            </a:r>
            <a:r>
              <a:rPr sz="1300">
                <a:solidFill>
                  <a:srgbClr val="1E293B"/>
                </a:solidFill>
              </a:rPr>
              <a:t>Быстрая навигация Ctrl+K с фильтром команд по роли пользователя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Демонстрация: Склад и CRM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5669280" cy="2377440"/>
          </a:xfrm>
          <a:prstGeom prst="rect">
            <a:avLst/>
          </a:prstGeom>
        </p:spPr>
      </p:pic>
      <p:pic>
        <p:nvPicPr>
          <p:cNvPr id="10" name="Picture 9" descr="c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31920"/>
            <a:ext cx="566928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37856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38130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Склад — управление товарным ассортиментом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63002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63276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CRM — клиентская база и программа лояльности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417320"/>
            <a:ext cx="597103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Товары:  </a:t>
            </a:r>
            <a:r>
              <a:rPr sz="1300">
                <a:solidFill>
                  <a:srgbClr val="1E293B"/>
                </a:solidFill>
              </a:rPr>
              <a:t>Полный CRUD: создание, редактирование, удаление товаров и категорий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Вариации:  </a:t>
            </a:r>
            <a:r>
              <a:rPr sz="1300">
                <a:solidFill>
                  <a:srgbClr val="1E293B"/>
                </a:solidFill>
              </a:rPr>
              <a:t>Привязка размеров, цветов и цен к каждой позиции, контроль остатков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Клиенты:  </a:t>
            </a:r>
            <a:r>
              <a:rPr sz="1300">
                <a:solidFill>
                  <a:srgbClr val="1E293B"/>
                </a:solidFill>
              </a:rPr>
              <a:t>Регистрация клиентов, поиск по ФИО / телефону / email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Лояльность:  </a:t>
            </a:r>
            <a:r>
              <a:rPr sz="1300">
                <a:solidFill>
                  <a:srgbClr val="1E293B"/>
                </a:solidFill>
              </a:rPr>
              <a:t>Начисление баллов при покупке, списание при возврате, история транзакций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Фильтрация:  </a:t>
            </a:r>
            <a:r>
              <a:rPr sz="1300">
                <a:solidFill>
                  <a:srgbClr val="1E293B"/>
                </a:solidFill>
              </a:rPr>
              <a:t>Поиск и сортировка по бренду, категории, остатку, цене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 err="1">
                <a:solidFill>
                  <a:srgbClr val="0D2B55"/>
                </a:solidFill>
              </a:rPr>
              <a:t>Демонстрация</a:t>
            </a:r>
            <a:r>
              <a:rPr sz="2500" b="1" i="0" dirty="0">
                <a:solidFill>
                  <a:srgbClr val="0D2B55"/>
                </a:solidFill>
              </a:rPr>
              <a:t>: </a:t>
            </a:r>
            <a:r>
              <a:rPr sz="2500" b="1" i="0" dirty="0" err="1">
                <a:solidFill>
                  <a:srgbClr val="0D2B55"/>
                </a:solidFill>
              </a:rPr>
              <a:t>Онлайн-витрина</a:t>
            </a:r>
            <a:r>
              <a:rPr sz="2500" b="1" i="0" dirty="0">
                <a:solidFill>
                  <a:srgbClr val="0D2B55"/>
                </a:solidFill>
              </a:rPr>
              <a:t> и </a:t>
            </a:r>
            <a:r>
              <a:rPr sz="2500" b="1" i="0" dirty="0" err="1">
                <a:solidFill>
                  <a:srgbClr val="0D2B55"/>
                </a:solidFill>
              </a:rPr>
              <a:t>Заказы</a:t>
            </a:r>
            <a:endParaRPr sz="2500" b="1" i="0" dirty="0">
              <a:solidFill>
                <a:srgbClr val="0D2B55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ore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5669280" cy="2377440"/>
          </a:xfrm>
          <a:prstGeom prst="rect">
            <a:avLst/>
          </a:prstGeom>
        </p:spPr>
      </p:pic>
      <p:pic>
        <p:nvPicPr>
          <p:cNvPr id="10" name="Picture 9" descr="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31920"/>
            <a:ext cx="566928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37856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38130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Онлайн-витрина — публичный каталог товаров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6300216"/>
            <a:ext cx="56692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632764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Заказы — управление статусами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417320"/>
            <a:ext cx="597103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Каталог:  </a:t>
            </a:r>
            <a:r>
              <a:rPr sz="1300">
                <a:solidFill>
                  <a:srgbClr val="1E293B"/>
                </a:solidFill>
              </a:rPr>
              <a:t>Фильтрация по цене, категориям и скидкам; карточки с фото и вариациями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Корзина:  </a:t>
            </a:r>
            <a:r>
              <a:rPr sz="1300">
                <a:solidFill>
                  <a:srgbClr val="1E293B"/>
                </a:solidFill>
              </a:rPr>
              <a:t>Добавление товаров → оформление заказа → автосписание остатка склада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Статусы:  </a:t>
            </a:r>
            <a:r>
              <a:rPr sz="1300">
                <a:solidFill>
                  <a:srgbClr val="1E293B"/>
                </a:solidFill>
              </a:rPr>
              <a:t>PENDING → CONFIRMED → SHIPPED → DELIVERED с уведомлениями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Возврат:  </a:t>
            </a:r>
            <a:r>
              <a:rPr sz="1300">
                <a:solidFill>
                  <a:srgbClr val="1E293B"/>
                </a:solidFill>
              </a:rPr>
              <a:t>Обработка возвратов с автовосстановлением складского остатка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D2B55"/>
                </a:solidFill>
              </a:rPr>
              <a:t>Кабинет:  </a:t>
            </a:r>
            <a:r>
              <a:rPr sz="1300">
                <a:solidFill>
                  <a:srgbClr val="1E293B"/>
                </a:solidFill>
              </a:rPr>
              <a:t>История заказов, баллы лояльности, информационные страницы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Тестирование, база данных и результаты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Тестирование системы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6479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✓  </a:t>
            </a:r>
            <a:r>
              <a:rPr sz="1300">
                <a:solidFill>
                  <a:srgbClr val="1E293B"/>
                </a:solidFill>
              </a:rPr>
              <a:t>Unit-тесты (Jest): 28 тестов — расчёт чека, скидки, баллы лояльности, возвраты, остатки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✓  </a:t>
            </a:r>
            <a:r>
              <a:rPr sz="1300">
                <a:solidFill>
                  <a:srgbClr val="1E293B"/>
                </a:solidFill>
              </a:rPr>
              <a:t>Ручное тестирование: 15+ сценариев (POS, возврат, отмена заказа, фильтры)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✓  </a:t>
            </a:r>
            <a:r>
              <a:rPr sz="1300">
                <a:solidFill>
                  <a:srgbClr val="1E293B"/>
                </a:solidFill>
              </a:rPr>
              <a:t>Тест безопасности: попытка подмены цены с клиента — сервер отклоняет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✓  </a:t>
            </a:r>
            <a:r>
              <a:rPr sz="1300">
                <a:solidFill>
                  <a:srgbClr val="1E293B"/>
                </a:solidFill>
              </a:rPr>
              <a:t>Тест транзакции: одновременное списание остатка и начисление баллов — атомарно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Структура базы данных (15+ моделей)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3367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Product → Variation (размер, цвет, цена, остаток)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Sale → SaleItem / Order → OrderItem → Variation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Client → LoyaltyTransaction / Return → остаток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3B82F6"/>
                </a:solidFill>
              </a:rPr>
              <a:t>▸  </a:t>
            </a:r>
            <a:r>
              <a:rPr sz="1300">
                <a:solidFill>
                  <a:srgbClr val="1E293B"/>
                </a:solidFill>
              </a:rPr>
              <a:t>User (ADMIN / SELLER / STOREKEEPER), Expense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371600"/>
            <a:ext cx="36576" cy="475488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97880" y="13716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Достигнутые результаты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764792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7 модулей ERP — </a:t>
            </a:r>
            <a:r>
              <a:rPr sz="1400">
                <a:solidFill>
                  <a:srgbClr val="47556B"/>
                </a:solidFill>
              </a:rPr>
              <a:t>полный охват бизнес-процессов магазина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Онлайн-витрина — </a:t>
            </a:r>
            <a:r>
              <a:rPr sz="1400">
                <a:solidFill>
                  <a:srgbClr val="47556B"/>
                </a:solidFill>
              </a:rPr>
              <a:t>каталог, корзина, заказы, лояльность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28 авто-тестов — </a:t>
            </a:r>
            <a:r>
              <a:rPr sz="1400">
                <a:solidFill>
                  <a:srgbClr val="47556B"/>
                </a:solidFill>
              </a:rPr>
              <a:t>Jest — критическая бизнес-логика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Финансы + Excel — </a:t>
            </a:r>
            <a:r>
              <a:rPr sz="1400">
                <a:solidFill>
                  <a:srgbClr val="47556B"/>
                </a:solidFill>
              </a:rPr>
              <a:t>P&amp;L, расходы, фильтр по периоду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POS с чеком — </a:t>
            </a:r>
            <a:r>
              <a:rPr sz="1400">
                <a:solidFill>
                  <a:srgbClr val="47556B"/>
                </a:solidFill>
              </a:rPr>
              <a:t>штрихкод, скидки, Z-отчёт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Защита данных — </a:t>
            </a:r>
            <a:r>
              <a:rPr sz="1400">
                <a:solidFill>
                  <a:srgbClr val="47556B"/>
                </a:solidFill>
              </a:rPr>
              <a:t>JWT, rate limiting, серверная валидация цен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B82F6"/>
                </a:solidFill>
              </a:rPr>
              <a:t>✓  </a:t>
            </a:r>
            <a:r>
              <a:rPr sz="1400" b="1">
                <a:solidFill>
                  <a:srgbClr val="1E293B"/>
                </a:solidFill>
              </a:rPr>
              <a:t>Деплой PM2 — </a:t>
            </a:r>
            <a:r>
              <a:rPr sz="1400">
                <a:solidFill>
                  <a:srgbClr val="47556B"/>
                </a:solidFill>
              </a:rPr>
              <a:t>production build, автозапуск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6291072"/>
            <a:ext cx="11686032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291072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Цель достигнута: система готова к реальной эксплуатации в магазине одежды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91440" cy="77724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512064"/>
            <a:ext cx="11823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D2B55"/>
                </a:solidFill>
              </a:rPr>
              <a:t>Экономическое обоснование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34440"/>
            <a:ext cx="12188952" cy="32004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57784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Сравнение: ручной учёт vs 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577840" cy="52120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47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Показатель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8470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C8FF"/>
                </a:solidFill>
              </a:rPr>
              <a:t>Ручной учёт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4708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Vanguard ERP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58567"/>
            <a:ext cx="55778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368295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Ввод прихода товаров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36829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B"/>
                </a:solidFill>
              </a:rPr>
              <a:t>45–60 мин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350007"/>
            <a:ext cx="16002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236829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5 мин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79774"/>
            <a:ext cx="5577840" cy="521207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88950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Подготовка отчёта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88950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B"/>
                </a:solidFill>
              </a:rPr>
              <a:t>2–3 часа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871214"/>
            <a:ext cx="16002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1960" y="288950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Автоматически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00981"/>
            <a:ext cx="55778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41070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Оформление продажи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41070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B"/>
                </a:solidFill>
              </a:rPr>
              <a:t>3 мин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392421"/>
            <a:ext cx="16002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60" y="341070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30 сек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22188"/>
            <a:ext cx="5577840" cy="521207"/>
          </a:xfrm>
          <a:prstGeom prst="rect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9319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Контроль остатков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9319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B"/>
                </a:solidFill>
              </a:rPr>
              <a:t>Раз в неделю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913628"/>
            <a:ext cx="16002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8221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16A34A"/>
                </a:solidFill>
              </a:rPr>
              <a:t>В </a:t>
            </a:r>
            <a:r>
              <a:rPr sz="1200" b="1" i="0" dirty="0" err="1">
                <a:solidFill>
                  <a:srgbClr val="16A34A"/>
                </a:solidFill>
              </a:rPr>
              <a:t>реальном</a:t>
            </a:r>
            <a:r>
              <a:rPr sz="1200" b="1" i="0" dirty="0">
                <a:solidFill>
                  <a:srgbClr val="16A34A"/>
                </a:solidFill>
              </a:rPr>
              <a:t> </a:t>
            </a:r>
            <a:r>
              <a:rPr sz="1200" b="1" i="0" dirty="0" err="1">
                <a:solidFill>
                  <a:srgbClr val="16A34A"/>
                </a:solidFill>
              </a:rPr>
              <a:t>времени</a:t>
            </a:r>
            <a:endParaRPr sz="1200" b="1" i="0" dirty="0">
              <a:solidFill>
                <a:srgbClr val="16A34A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4320" y="4343395"/>
            <a:ext cx="55778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45312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Поиск клиента/истории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45312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B"/>
                </a:solidFill>
              </a:rPr>
              <a:t>Нет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434835"/>
            <a:ext cx="1600200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51960" y="445312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Мгновенно (CRM)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325880"/>
            <a:ext cx="36576" cy="475488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1325880"/>
            <a:ext cx="5852160" cy="365760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13716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Расчёт годового эффекта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1764792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0D2B55"/>
                </a:solidFill>
              </a:rPr>
              <a:t>Экономия времени:  </a:t>
            </a:r>
            <a:r>
              <a:rPr sz="1300">
                <a:solidFill>
                  <a:srgbClr val="1E293B"/>
                </a:solidFill>
              </a:rPr>
              <a:t>≈ 2,5 ч/день × 250 дней = 625 ч/год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D2B55"/>
                </a:solidFill>
              </a:rPr>
              <a:t>Стоимость часа:  </a:t>
            </a:r>
            <a:r>
              <a:rPr sz="1300">
                <a:solidFill>
                  <a:srgbClr val="1E293B"/>
                </a:solidFill>
              </a:rPr>
              <a:t>400 ₽  (средняя ставка сотрудника)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D2B55"/>
                </a:solidFill>
              </a:rPr>
              <a:t>Годовая экономия:  </a:t>
            </a:r>
            <a:r>
              <a:rPr sz="1300">
                <a:solidFill>
                  <a:srgbClr val="1E293B"/>
                </a:solidFill>
              </a:rPr>
              <a:t>625 × 400 = 250 000 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520440"/>
            <a:ext cx="5852160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36118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Годовая экономия:  250 000 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251960"/>
            <a:ext cx="5852160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63640" y="42976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Сравнение с коммерческими аналогами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672584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</a:rPr>
              <a:t>МойСклад (облако):  </a:t>
            </a:r>
            <a:r>
              <a:rPr sz="1200">
                <a:solidFill>
                  <a:srgbClr val="1E293B"/>
                </a:solidFill>
              </a:rPr>
              <a:t>от 10 800 ₽/год  (абонентская плата)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</a:rPr>
              <a:t>1С: Розница:  </a:t>
            </a:r>
            <a:r>
              <a:rPr sz="1200">
                <a:solidFill>
                  <a:srgbClr val="1E293B"/>
                </a:solidFill>
              </a:rPr>
              <a:t>от 25 000 ₽  +  ~36 000 ₽/год обслуживание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3B82F6"/>
                </a:solidFill>
              </a:rPr>
              <a:t>Vanguard ERP:  </a:t>
            </a:r>
            <a:r>
              <a:rPr sz="1200">
                <a:solidFill>
                  <a:srgbClr val="1E293B"/>
                </a:solidFill>
              </a:rPr>
              <a:t>разработка на заказ — без абонентских платежей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291072"/>
            <a:ext cx="11686032" cy="347472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291072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Внедрение системы окупается в первый год эксплуатации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11457432" cy="36576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92" y="6416749"/>
            <a:ext cx="1218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Созанов</a:t>
            </a:r>
            <a:r>
              <a:rPr sz="1800" b="1" i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Георгий </a:t>
            </a:r>
            <a:r>
              <a:rPr sz="1800" b="1" i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Валерьевич</a:t>
            </a:r>
            <a:r>
              <a:rPr sz="1800" b="1" i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 ·  </a:t>
            </a:r>
            <a:r>
              <a:rPr sz="1800" b="1" i="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Группа</a:t>
            </a:r>
            <a:r>
              <a:rPr sz="1800" b="1" i="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ИС-22-2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47846" y="2957127"/>
            <a:ext cx="1218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 dirty="0" err="1">
                <a:solidFill>
                  <a:schemeClr val="bg1">
                    <a:lumMod val="95000"/>
                  </a:schemeClr>
                </a:solidFill>
              </a:rPr>
              <a:t>Спасибо</a:t>
            </a:r>
            <a:r>
              <a:rPr sz="3200" b="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3200" b="0" i="1" dirty="0" err="1">
                <a:solidFill>
                  <a:schemeClr val="bg1">
                    <a:lumMod val="95000"/>
                  </a:schemeClr>
                </a:solidFill>
              </a:rPr>
              <a:t>за</a:t>
            </a:r>
            <a:r>
              <a:rPr sz="3200" b="0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3200" b="0" i="1" dirty="0" err="1">
                <a:solidFill>
                  <a:schemeClr val="bg1">
                    <a:lumMod val="95000"/>
                  </a:schemeClr>
                </a:solidFill>
              </a:rPr>
              <a:t>внимание</a:t>
            </a:r>
            <a:r>
              <a:rPr sz="3200" b="0" i="1" dirty="0">
                <a:solidFill>
                  <a:schemeClr val="bg1">
                    <a:lumMod val="95000"/>
                  </a:schemeClr>
                </a:solidFill>
              </a:rPr>
              <a:t>!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02824E-F4DB-19A1-8E37-28356E707327}"/>
              </a:ext>
            </a:extLst>
          </p:cNvPr>
          <p:cNvSpPr/>
          <p:nvPr/>
        </p:nvSpPr>
        <p:spPr>
          <a:xfrm>
            <a:off x="365760" y="2957127"/>
            <a:ext cx="11457432" cy="36576"/>
          </a:xfrm>
          <a:prstGeom prst="rect">
            <a:avLst/>
          </a:prstGeom>
          <a:solidFill>
            <a:srgbClr val="16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917</Words>
  <Application>Microsoft Office PowerPoint</Application>
  <PresentationFormat>Custom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Георгий Созаноы</cp:lastModifiedBy>
  <cp:revision>1</cp:revision>
  <dcterms:created xsi:type="dcterms:W3CDTF">2013-01-27T09:14:16Z</dcterms:created>
  <dcterms:modified xsi:type="dcterms:W3CDTF">2026-06-14T21:45:29Z</dcterms:modified>
  <cp:category/>
</cp:coreProperties>
</file>